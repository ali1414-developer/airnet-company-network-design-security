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64" r:id="rId9"/>
    <p:sldId id="265" r:id="rId10"/>
    <p:sldId id="266" r:id="rId11"/>
    <p:sldId id="267" r:id="rId12"/>
    <p:sldId id="269" r:id="rId13"/>
    <p:sldId id="270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506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27968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84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36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8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9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3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1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3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27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5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38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29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13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93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87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56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9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985" y="364656"/>
            <a:ext cx="7772400" cy="1752601"/>
          </a:xfrm>
        </p:spPr>
        <p:txBody>
          <a:bodyPr/>
          <a:lstStyle/>
          <a:p>
            <a:pPr algn="ctr"/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AirNet Company </a:t>
            </a: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Design &amp;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47144"/>
            <a:ext cx="6400800" cy="1200329"/>
          </a:xfrm>
        </p:spPr>
        <p:txBody>
          <a:bodyPr/>
          <a:lstStyle/>
          <a:p>
            <a:pPr algn="ctr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Project</a:t>
            </a:r>
          </a:p>
          <a:p>
            <a:pPr algn="ctr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VLSM, VLANs, VPN &amp; Security Controls</a:t>
            </a:r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80F8A-7AC4-CC0B-8CF7-6AEFA6B81EC1}"/>
              </a:ext>
            </a:extLst>
          </p:cNvPr>
          <p:cNvSpPr txBox="1"/>
          <p:nvPr/>
        </p:nvSpPr>
        <p:spPr>
          <a:xfrm>
            <a:off x="2017767" y="3818403"/>
            <a:ext cx="66086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  <a:p>
            <a:pPr algn="ctr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 Raza (243749)</a:t>
            </a:r>
          </a:p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Waseem Abbas (243742)</a:t>
            </a:r>
          </a:p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Anas Akram (243766)</a:t>
            </a:r>
          </a:p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Mohsin Abbas (243743)</a:t>
            </a:r>
          </a:p>
          <a:p>
            <a:pPr algn="ctr"/>
            <a:endParaRPr lang="en-PK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80654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74273"/>
            <a:ext cx="7704667" cy="3332816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AirNet Company is a growing Australian enterprise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 Office in Sydney with international branches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secure, scalable, and efficient networking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focuses on security, performance, and future growth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&amp; User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51363"/>
            <a:ext cx="7704667" cy="3332816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Sydney HQ: 5000 users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Melbourne: 3200 users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Brisbane: 2500 users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Kong: 2785 users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inter-branch communication required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92927"/>
            <a:ext cx="7704667" cy="3332816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IPv4 block: 188.42.0.0/16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connectivity between branches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services at Sydney HQ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VLAN-based departmental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wired and wireless access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Topology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182093"/>
            <a:ext cx="7704667" cy="3332816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Star Topology selected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enterprise environments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scalability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and centrally managed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12B8-968D-2869-35A7-ABFA2021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7049" y="5215999"/>
            <a:ext cx="5560217" cy="8981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Topology Architecture</a:t>
            </a:r>
          </a:p>
        </p:txBody>
      </p:sp>
      <p:pic>
        <p:nvPicPr>
          <p:cNvPr id="30" name="Picture 29" descr="A diagram of a network&#10;&#10;AI-generated content may be incorrect.">
            <a:extLst>
              <a:ext uri="{FF2B5EF4-FFF2-40B4-BE49-F238E27FC236}">
                <a16:creationId xmlns:a16="http://schemas.microsoft.com/office/drawing/2014/main" id="{EB9C9FFC-56C6-C0D9-ABF2-D00975744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16115"/>
            <a:ext cx="8331200" cy="521815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4264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8401"/>
            <a:ext cx="7704667" cy="3332816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building has 8 floors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switches on every floor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layer uses Layer 3 switches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(Multi-layer switch)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server room on Level 5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 placed between LAN and Internet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Addressing &amp; VLSM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666" y="1762592"/>
            <a:ext cx="7704667" cy="3332816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network: 188.42.0.0/16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VLSM used to avoid IP wastage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Subnets allocated from largest to smallest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current users and future expansion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544" y="757976"/>
            <a:ext cx="6492912" cy="1504335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 Allocation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233" y="2667000"/>
            <a:ext cx="2682912" cy="2680856"/>
          </a:xfrm>
        </p:spPr>
        <p:txBody>
          <a:bodyPr anchor="t">
            <a:normAutofit fontScale="92500" lnSpcReduction="10000"/>
          </a:bodyPr>
          <a:lstStyle/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Sydney HQ: 188.42.0.0/19 (8190 hosts)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Melbourne: 188.42.32.0/20 (4094 hosts)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Kong: 188.42.48.0/20 (4094 hosts)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Brisbane: 188.42.64.0/21 (2046 hosts)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justified allocation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A3284E-1068-F3FC-28ED-E7AF4B0AA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872541"/>
              </p:ext>
            </p:extLst>
          </p:nvPr>
        </p:nvGraphicFramePr>
        <p:xfrm>
          <a:off x="4168197" y="2578968"/>
          <a:ext cx="4864968" cy="3124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3415">
                  <a:extLst>
                    <a:ext uri="{9D8B030D-6E8A-4147-A177-3AD203B41FA5}">
                      <a16:colId xmlns:a16="http://schemas.microsoft.com/office/drawing/2014/main" val="452497759"/>
                    </a:ext>
                  </a:extLst>
                </a:gridCol>
                <a:gridCol w="999380">
                  <a:extLst>
                    <a:ext uri="{9D8B030D-6E8A-4147-A177-3AD203B41FA5}">
                      <a16:colId xmlns:a16="http://schemas.microsoft.com/office/drawing/2014/main" val="2409237200"/>
                    </a:ext>
                  </a:extLst>
                </a:gridCol>
                <a:gridCol w="572345">
                  <a:extLst>
                    <a:ext uri="{9D8B030D-6E8A-4147-A177-3AD203B41FA5}">
                      <a16:colId xmlns:a16="http://schemas.microsoft.com/office/drawing/2014/main" val="1192851868"/>
                    </a:ext>
                  </a:extLst>
                </a:gridCol>
                <a:gridCol w="1179914">
                  <a:extLst>
                    <a:ext uri="{9D8B030D-6E8A-4147-A177-3AD203B41FA5}">
                      <a16:colId xmlns:a16="http://schemas.microsoft.com/office/drawing/2014/main" val="3589094533"/>
                    </a:ext>
                  </a:extLst>
                </a:gridCol>
                <a:gridCol w="1179914">
                  <a:extLst>
                    <a:ext uri="{9D8B030D-6E8A-4147-A177-3AD203B41FA5}">
                      <a16:colId xmlns:a16="http://schemas.microsoft.com/office/drawing/2014/main" val="3085159411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Address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CIDR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Subnet Mask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Usable IP Range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extLst>
                  <a:ext uri="{0D108BD9-81ED-4DB2-BD59-A6C34878D82A}">
                    <a16:rowId xmlns:a16="http://schemas.microsoft.com/office/drawing/2014/main" val="3243033997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Sydney HQ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188.42.0.0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/19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255.255.224.0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188.42.0.1 – 188.42.31.254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extLst>
                  <a:ext uri="{0D108BD9-81ED-4DB2-BD59-A6C34878D82A}">
                    <a16:rowId xmlns:a16="http://schemas.microsoft.com/office/drawing/2014/main" val="277221725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Melbourne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188.42.32.0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/20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255.255.240.0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188.42.32.1 – 188.42.47.254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extLst>
                  <a:ext uri="{0D108BD9-81ED-4DB2-BD59-A6C34878D82A}">
                    <a16:rowId xmlns:a16="http://schemas.microsoft.com/office/drawing/2014/main" val="901121075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Hong Kong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188.42.48.0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/20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255.255.240.0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188.42.48.1 – 188.42.63.254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extLst>
                  <a:ext uri="{0D108BD9-81ED-4DB2-BD59-A6C34878D82A}">
                    <a16:rowId xmlns:a16="http://schemas.microsoft.com/office/drawing/2014/main" val="952603854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Brisbane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188.42.64.0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/21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255.255.248.0</a:t>
                      </a:r>
                      <a:endParaRPr lang="en-PK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188.42.64.1 – 188.42.71.254</a:t>
                      </a:r>
                      <a:endParaRPr lang="en-PK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446" marR="10446" marT="10446" marB="10446" anchor="ctr"/>
                </a:tc>
                <a:extLst>
                  <a:ext uri="{0D108BD9-81ED-4DB2-BD59-A6C34878D82A}">
                    <a16:rowId xmlns:a16="http://schemas.microsoft.com/office/drawing/2014/main" val="65082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07021"/>
            <a:ext cx="7704667" cy="1302326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Design &amp;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297" y="1641763"/>
            <a:ext cx="4365721" cy="4218710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10 – Management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20 – Human Resources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30 – Finance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40 – IT Support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50 – Guest Network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60 – Server VLAN (Level 5)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8B080D-BB87-4F22-083D-63795080C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018" y="1745673"/>
            <a:ext cx="3906982" cy="3325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3" y="685800"/>
            <a:ext cx="1924934" cy="5538019"/>
          </a:xfrm>
        </p:spPr>
        <p:txBody>
          <a:bodyPr>
            <a:normAutofit/>
          </a:bodyPr>
          <a:lstStyle/>
          <a:p>
            <a:r>
              <a:rPr lang="en-GB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Inter-VLAN Routing &amp; Server Security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536195" y="612057"/>
            <a:ext cx="5364456" cy="3753466"/>
          </a:xfrm>
        </p:spPr>
        <p:txBody>
          <a:bodyPr>
            <a:normAutofit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Inter-VLAN routing via Layer 3 switches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Server VLAN isolated for security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VLANs allowed server access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8AB7A85-9CEE-D334-26E8-0A2AC3BD6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195" y="3570514"/>
            <a:ext cx="5364456" cy="316411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computer server&#10;&#10;AI-generated content may be incorrect.">
            <a:extLst>
              <a:ext uri="{FF2B5EF4-FFF2-40B4-BE49-F238E27FC236}">
                <a16:creationId xmlns:a16="http://schemas.microsoft.com/office/drawing/2014/main" id="{9F220F08-93D7-AD24-9217-C7F52A31EB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08" r="40494"/>
          <a:stretch>
            <a:fillRect/>
          </a:stretch>
        </p:blipFill>
        <p:spPr>
          <a:xfrm>
            <a:off x="5169693" y="10"/>
            <a:ext cx="397430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4570" y="0"/>
            <a:ext cx="1827609" cy="6858001"/>
            <a:chOff x="1320800" y="0"/>
            <a:chExt cx="2436813" cy="6858001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60" y="685800"/>
            <a:ext cx="3945510" cy="1752599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Selection &amp; Wireless Network</a:t>
            </a:r>
            <a:endParaRPr lang="en-PK" sz="3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1" y="2666999"/>
            <a:ext cx="3945510" cy="3124201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networks can be easily expanded without the need for additional wires.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3 switches for high-speed routing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 switches for access layer connectivity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Cat6 cabling for high performance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2762" y="2041826"/>
            <a:ext cx="7704667" cy="277434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enterprise network designed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IP utilization using VLSM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security using VLA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and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firewalls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supports future business growth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2060"/>
            </a:gs>
            <a:gs pos="100000">
              <a:schemeClr val="accent1">
                <a:lumMod val="86000"/>
                <a:lumOff val="14000"/>
              </a:schemeClr>
            </a:gs>
            <a:gs pos="85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6E7A-42F6-CE81-C367-736664351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623" y="867227"/>
            <a:ext cx="6699805" cy="2360071"/>
          </a:xfrm>
        </p:spPr>
        <p:txBody>
          <a:bodyPr>
            <a:normAutofit/>
          </a:bodyPr>
          <a:lstStyle/>
          <a:p>
            <a:pPr algn="ctr"/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PK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1566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242</TotalTime>
  <Words>413</Words>
  <Application>Microsoft Office PowerPoint</Application>
  <PresentationFormat>On-screen Show (4:3)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Corbel</vt:lpstr>
      <vt:lpstr>Times New Roman</vt:lpstr>
      <vt:lpstr>Parallax</vt:lpstr>
      <vt:lpstr>AirNet Company Network Design &amp; Security</vt:lpstr>
      <vt:lpstr>Introduction</vt:lpstr>
      <vt:lpstr>Business &amp; User Requirements</vt:lpstr>
      <vt:lpstr>Networking Requirements</vt:lpstr>
      <vt:lpstr>Network Topology Selection</vt:lpstr>
      <vt:lpstr>Topology Architecture</vt:lpstr>
      <vt:lpstr>LAN Design Overview</vt:lpstr>
      <vt:lpstr>IP Addressing &amp; VLSM</vt:lpstr>
      <vt:lpstr>Subnet Allocation Summary</vt:lpstr>
      <vt:lpstr>VLAN Design &amp; Segmentation</vt:lpstr>
      <vt:lpstr>Inter-VLAN Routing &amp; Server Security</vt:lpstr>
      <vt:lpstr>Hardware Selection &amp; Wireless Network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AirNet Company Network Design &amp; Security</dc:title>
  <dc:subject/>
  <dc:creator/>
  <cp:keywords/>
  <dc:description>generated using python-pptx</dc:description>
  <cp:lastModifiedBy>ali raza</cp:lastModifiedBy>
  <cp:revision>9</cp:revision>
  <dcterms:created xsi:type="dcterms:W3CDTF">2013-01-27T09:14:16Z</dcterms:created>
  <dcterms:modified xsi:type="dcterms:W3CDTF">2025-12-22T17:49:56Z</dcterms:modified>
  <cp:category/>
</cp:coreProperties>
</file>